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711" autoAdjust="0"/>
    <p:restoredTop sz="94660"/>
  </p:normalViewPr>
  <p:slideViewPr>
    <p:cSldViewPr snapToGrid="0">
      <p:cViewPr>
        <p:scale>
          <a:sx n="66" d="100"/>
          <a:sy n="66" d="100"/>
        </p:scale>
        <p:origin x="832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90BE8-406A-38E5-3305-F65192FECE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AC4EE0-AA46-D492-1903-03CD852158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3B7F7-B601-6CFF-12B0-7A6E07127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F4AB5-F2F8-4529-A771-7403E11C8CE3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BEEB5-ED0E-3EBD-AA94-0B55F6C94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AFC97-AFFB-1813-70A0-FE53B53B5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5DCC4-4DFC-44FC-99A8-6D4EF1420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158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85301-24E1-F6CE-FB69-3C577529F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A9653-6A11-B2A7-60EE-965F970FD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D437D5-94BA-FA3E-F807-27165BFE0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F4AB5-F2F8-4529-A771-7403E11C8CE3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30BBF-1B8F-966A-BC3B-7584DFCDA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E817D-F57E-E840-4083-78CDEA2CC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5DCC4-4DFC-44FC-99A8-6D4EF1420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987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29E5E-97F5-E66A-07B0-F60B4B55D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A563EB-8BD2-A620-6FCA-9B19FD6696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FE2F4D-A532-A27D-D7CE-59451364C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F4AB5-F2F8-4529-A771-7403E11C8CE3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8224DD-57DB-D06F-CDAA-FCB7AE224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13EC6-6A51-5351-E022-4BE372901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5DCC4-4DFC-44FC-99A8-6D4EF1420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433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6C0CA-9501-5033-1EEE-DC8D63CB3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ABF3A-6DE1-3282-8221-04737B15E0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22BFD1-1163-CECF-5BD0-1730F10141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D53CF4-D288-9C76-4565-0B842ECF9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F4AB5-F2F8-4529-A771-7403E11C8CE3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B26C19-DF6A-293F-29F4-7028E4B0A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B7469D-A6A4-3D0E-8472-D920B6005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5DCC4-4DFC-44FC-99A8-6D4EF1420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011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61C94-EDC5-AFE9-E7D0-991E84FF9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09A201-C3FC-FC25-9285-4A60D04EBF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B8AAB2-DC90-3017-1B39-ADB9B265B3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A23CB6-15F1-4BD0-C64F-5804DB6939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7A672C-1E63-43CB-19A3-0416A3F826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CB0D50-842F-0B44-181A-0DB83BD6B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F4AB5-F2F8-4529-A771-7403E11C8CE3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C32172-6380-D0BE-D610-4E8F7C630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A7F54A-CE6F-0060-262F-1430DDA59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5DCC4-4DFC-44FC-99A8-6D4EF1420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090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A2FD6-83CE-960E-A3F7-AFAB3EECD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ED16A2-20ED-4B29-6856-7839A1DB8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F4AB5-F2F8-4529-A771-7403E11C8CE3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4B1060-8AFA-FB2C-E871-81FB4F166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FF2126-4FD4-A099-CAD6-B18A98CAD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5DCC4-4DFC-44FC-99A8-6D4EF1420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297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8293FF-8341-50E5-4746-68B0E9040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F4AB5-F2F8-4529-A771-7403E11C8CE3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ED5B5F-E3D0-0EDD-6209-2E4F39374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B9DB23-A3E8-4E83-000F-AE0E349AF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5DCC4-4DFC-44FC-99A8-6D4EF1420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157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7537B-11EB-4EF8-9791-1FD538629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DB6E3-F53C-18D4-EDB5-727A4F86E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DF4467-3FCF-0893-1A47-8394205559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A2AD39-1C53-60EB-B662-6677B8850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F4AB5-F2F8-4529-A771-7403E11C8CE3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7DEEA5-93CC-C4F8-F26B-066B7A99E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4F4100-6060-C6F3-9051-7156E2F01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5DCC4-4DFC-44FC-99A8-6D4EF1420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337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96E37-29B3-F579-E5B0-480CB8C91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F253B9-428E-D071-10D6-8423241D08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01B01D-4244-9A6B-C698-97DA330E1D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B3EF2D-2661-1B7A-417F-71D4F3DEF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F4AB5-F2F8-4529-A771-7403E11C8CE3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289421-8FC7-4503-7BB3-7777A303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21E18A-3B74-C72C-F455-D81BE4EB9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5DCC4-4DFC-44FC-99A8-6D4EF1420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898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C4746-BA1F-DD51-36EC-8B1B04582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E33142-AF2F-1B9A-FD88-904EF104C0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EC5EC9-7759-8761-98DD-D505BE734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F4AB5-F2F8-4529-A771-7403E11C8CE3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3D871-6B41-67CE-3C30-1858BB74A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E1FF0-23E4-EEB1-8919-BF942D49C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5DCC4-4DFC-44FC-99A8-6D4EF1420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971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3C12E0-9BCF-D9F9-2E61-7812583B0D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6CB661-35B9-20B3-639D-EAE2E3A12B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1C0D8-BFA6-4FFB-ECDD-B1D647F7A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F4AB5-F2F8-4529-A771-7403E11C8CE3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9A634-B971-9FE5-CED6-85B8AF821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D4453-32E4-F95F-28B1-33EE80329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5DCC4-4DFC-44FC-99A8-6D4EF1420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317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9C96FA-5E84-CF64-A875-E5EBAAA56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A4358B-4860-BAAA-7D9A-942A00D648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42304-688B-502B-5806-07A882B672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EF4AB5-F2F8-4529-A771-7403E11C8CE3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B6BB3B-E3BC-9C8B-FE0A-C7D48E37EE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1C484-D100-4FBE-C8D8-82D7E24506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75DCC4-4DFC-44FC-99A8-6D4EF1420B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190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93625CD-65EA-69BF-F685-1F7A9CDD44F3}"/>
              </a:ext>
            </a:extLst>
          </p:cNvPr>
          <p:cNvSpPr txBox="1"/>
          <p:nvPr/>
        </p:nvSpPr>
        <p:spPr>
          <a:xfrm>
            <a:off x="5915031" y="3530232"/>
            <a:ext cx="597640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o-LA" sz="800" b="1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ອອກແບບໃນປະເທດຕຸຣະກີ</a:t>
            </a:r>
            <a:br>
              <a:rPr lang="lo-LA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</a:br>
            <a:r>
              <a:rPr lang="lo-LA" sz="800" b="1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ຜະລິດໂດຍ</a:t>
            </a:r>
            <a:r>
              <a:rPr lang="lo-LA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: </a:t>
            </a:r>
            <a:r>
              <a:rPr lang="en-US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Hayat Kimya Vietnam Co., Ltd.</a:t>
            </a:r>
            <a:br>
              <a:rPr lang="en-US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</a:br>
            <a:r>
              <a:rPr lang="lo-LA" sz="800" b="1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ທີ່ຢູ່</a:t>
            </a:r>
            <a:r>
              <a:rPr lang="lo-LA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: ນິຄົມອຸດສາຫະກໍາ </a:t>
            </a:r>
            <a:r>
              <a:rPr lang="en-US" sz="800" err="1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Becamex</a:t>
            </a:r>
            <a:r>
              <a:rPr lang="en-US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 – </a:t>
            </a:r>
            <a:r>
              <a:rPr lang="lo-LA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ບິ່ນຟ່ວກ, ປະເທດຫວຽດນາມ</a:t>
            </a:r>
            <a:br>
              <a:rPr lang="lo-LA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</a:br>
            <a:r>
              <a:rPr lang="lo-LA" sz="800" b="1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ນໍາເຂົ້າ ແລະ ສົ່ງອອກໂດຍ</a:t>
            </a:r>
            <a:r>
              <a:rPr lang="lo-LA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: </a:t>
            </a:r>
            <a:r>
              <a:rPr lang="en-US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Hayat Hygienic Products (Thailand) Ltd.</a:t>
            </a:r>
            <a:br>
              <a:rPr lang="en-US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</a:br>
            <a:r>
              <a:rPr lang="en-US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179 </a:t>
            </a:r>
            <a:r>
              <a:rPr lang="lo-LA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ອາຄານ </a:t>
            </a:r>
            <a:r>
              <a:rPr lang="en-US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Bangkok City Tower, </a:t>
            </a:r>
            <a:r>
              <a:rPr lang="lo-LA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ຖະໜົນ </a:t>
            </a:r>
            <a:r>
              <a:rPr lang="en-US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Sathorn </a:t>
            </a:r>
            <a:r>
              <a:rPr lang="lo-LA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ໃຕ້, ແຂວງ </a:t>
            </a:r>
            <a:r>
              <a:rPr lang="en-US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Thung Maha </a:t>
            </a:r>
            <a:r>
              <a:rPr lang="en-US" sz="800" err="1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Mek</a:t>
            </a:r>
            <a:r>
              <a:rPr lang="en-US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, </a:t>
            </a:r>
            <a:r>
              <a:rPr lang="lo-LA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ເຂດ </a:t>
            </a:r>
            <a:r>
              <a:rPr lang="en-US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Sathorn, </a:t>
            </a:r>
            <a:r>
              <a:rPr lang="lo-LA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ກຸງເທບ 10120</a:t>
            </a:r>
          </a:p>
          <a:p>
            <a:r>
              <a:rPr lang="lo-LA" sz="800" b="1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ວັນຜະລິດ</a:t>
            </a:r>
            <a:r>
              <a:rPr lang="lo-LA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: ເບີ່ງໃນສະຫຼາກສິນຄ້າ</a:t>
            </a:r>
            <a:br>
              <a:rPr lang="lo-LA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</a:br>
            <a:r>
              <a:rPr lang="lo-LA" sz="800" b="1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ວັນໝົດອາຍຸ</a:t>
            </a:r>
            <a:r>
              <a:rPr lang="lo-LA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: 3 ປີນັບຈາກວັນຜະລິດ</a:t>
            </a:r>
          </a:p>
          <a:p>
            <a:r>
              <a:rPr lang="lo-LA" sz="800" b="1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ສ່ວນປະກອບ</a:t>
            </a:r>
            <a:r>
              <a:rPr lang="lo-LA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:</a:t>
            </a:r>
            <a:r>
              <a:rPr lang="en-US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 Super Absorbent Polymer, Fluff Pulp, Polypropylene, Polyethylene, Hot Melt Adhesive</a:t>
            </a:r>
          </a:p>
          <a:p>
            <a:r>
              <a:rPr lang="lo-LA" sz="800" b="1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ຄໍາແນະນໍາໃນການເກັບຮັກສາ</a:t>
            </a:r>
            <a:r>
              <a:rPr lang="lo-LA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: ເກັບໄວ້ໃນສະຖານທີ່ສະອາດ ແລະ ແຫ້ງ ຫຼີກເວັ້ນແສງແດດຄົງທີ່</a:t>
            </a:r>
          </a:p>
          <a:p>
            <a:r>
              <a:rPr lang="lo-LA" sz="800" b="1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ໝາຍເຫດ</a:t>
            </a:r>
            <a:r>
              <a:rPr lang="lo-LA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:</a:t>
            </a:r>
            <a:br>
              <a:rPr lang="lo-LA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</a:br>
            <a:r>
              <a:rPr lang="en-US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+ </a:t>
            </a:r>
            <a:r>
              <a:rPr lang="lo-LA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ຖົງບັນຈຸມີຄຸນສົມບັດຕ້ານເຊື້ອເພື່ອປົກປ້ອງຜ້າອ້ອມຂ້າງໃນ ອີງຕາມຜົນການທົດສອບໃນຫ້ອງປະຕິບັດການ </a:t>
            </a:r>
            <a:r>
              <a:rPr lang="en-US" sz="800" err="1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Ekoteks</a:t>
            </a:r>
            <a:r>
              <a:rPr lang="en-US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 (</a:t>
            </a:r>
            <a:r>
              <a:rPr lang="lo-LA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ຕຸຣະກີ) ຂ້າເຊື້ອ </a:t>
            </a:r>
            <a:r>
              <a:rPr lang="en-US" sz="800" err="1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S.aureus</a:t>
            </a:r>
            <a:r>
              <a:rPr lang="en-US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 </a:t>
            </a:r>
            <a:r>
              <a:rPr lang="lo-LA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ແລະ </a:t>
            </a:r>
            <a:r>
              <a:rPr lang="en-US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E.coli.</a:t>
            </a:r>
            <a:br>
              <a:rPr lang="en-US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</a:br>
            <a:r>
              <a:rPr lang="en-US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+ </a:t>
            </a:r>
            <a:r>
              <a:rPr lang="lo-LA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ຜິວຊັ້ນນອກຖືກລ້າງໃນຂະບວນການຜະລິດ ຕາມຜົນທົດສອບຂອງ </a:t>
            </a:r>
            <a:r>
              <a:rPr lang="en-US" sz="800" err="1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Ekoteks</a:t>
            </a:r>
            <a:r>
              <a:rPr lang="en-US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 (</a:t>
            </a:r>
            <a:r>
              <a:rPr lang="lo-LA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ຕຸຣະກີ) ຂ້າເຊື້ອ </a:t>
            </a:r>
            <a:r>
              <a:rPr lang="en-US" sz="800" err="1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S.aureus</a:t>
            </a:r>
            <a:r>
              <a:rPr lang="en-US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, E.coli, </a:t>
            </a:r>
            <a:r>
              <a:rPr lang="en-US" sz="800" err="1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C.albicans</a:t>
            </a:r>
            <a:r>
              <a:rPr lang="en-US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 </a:t>
            </a:r>
            <a:r>
              <a:rPr lang="lo-LA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ແລະ </a:t>
            </a:r>
            <a:r>
              <a:rPr lang="en-US" sz="800" err="1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P.aeruginosa</a:t>
            </a:r>
            <a:r>
              <a:rPr lang="en-US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.</a:t>
            </a:r>
            <a:br>
              <a:rPr lang="en-US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</a:br>
            <a:r>
              <a:rPr lang="en-US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+ </a:t>
            </a:r>
            <a:r>
              <a:rPr lang="lo-LA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ອີງຕາມການທົດສອບໃນຫ້ອງປະຕິບັດການ ດ້ວຍປະລິມານນ້ຳປັດສະວະສະເຉລ່ຍຂອງເດັກນ້ອຍໃນໄລຍະເວລາ 12 ຊົ່ວໂມງ.</a:t>
            </a:r>
            <a:br>
              <a:rPr lang="lo-LA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</a:br>
            <a:r>
              <a:rPr lang="lo-LA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ຜົນອາດຈະແຕກຕ່າງກັນໄປຕາມແຕ່ລະຄົນ. ເພື່ອຄວາມສະອາດ ຂໍໃຫ້ປ່ຽນຜ້າອ້ອມບໍ່ໃຫ້ເກີນ 3-4 ຊົ່ວໂມງ ຫຼື ເມື່ອມັນເປື້ອນ.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91172-33CF-9668-6E5E-19C8F7EA0343}"/>
              </a:ext>
            </a:extLst>
          </p:cNvPr>
          <p:cNvSpPr txBox="1"/>
          <p:nvPr/>
        </p:nvSpPr>
        <p:spPr>
          <a:xfrm>
            <a:off x="396855" y="85349"/>
            <a:ext cx="3677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err="1"/>
              <a:t>Molfix</a:t>
            </a:r>
            <a:r>
              <a:rPr lang="en-US" sz="2400" b="1"/>
              <a:t> Pant Extra Dry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E07BBA-CA0F-73D6-9913-632AD5971244}"/>
              </a:ext>
            </a:extLst>
          </p:cNvPr>
          <p:cNvSpPr txBox="1"/>
          <p:nvPr/>
        </p:nvSpPr>
        <p:spPr>
          <a:xfrm>
            <a:off x="1502627" y="814462"/>
            <a:ext cx="17485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o-LA" sz="800" b="1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ການປົກປ້ອງເຊື້ອແບັກທີເຣັຍ</a:t>
            </a:r>
            <a:endParaRPr lang="en-US" sz="800" b="1">
              <a:latin typeface="Phetsarath OT" panose="02000500000000000001" pitchFamily="2" charset="2"/>
              <a:ea typeface="Phetsarath OT" panose="02000500000000000001" pitchFamily="2" charset="2"/>
              <a:cs typeface="Phetsarath OT" panose="02000500000000000001" pitchFamily="2" charset="2"/>
            </a:endParaRPr>
          </a:p>
          <a:p>
            <a:r>
              <a:rPr lang="lo-LA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ຖົງບັນຈຸຕ້ານເຊື້ອໃຫ້ການປົກປ້ອງເຊື້ອໄດ້ເຖິງ 99%.</a:t>
            </a:r>
            <a:endParaRPr lang="en-US" sz="800" b="1">
              <a:latin typeface="Phetsarath OT" panose="02000500000000000001" pitchFamily="2" charset="2"/>
              <a:ea typeface="Phetsarath OT" panose="02000500000000000001" pitchFamily="2" charset="2"/>
              <a:cs typeface="Phetsarath OT" panose="02000500000000000001" pitchFamily="2" charset="2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E3DA3BB-95D2-8A06-566D-3A7F06079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329" y="611112"/>
            <a:ext cx="1020951" cy="9925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B0D582A-D1ED-8F8A-02DD-D1F4A94CE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676" y="1668845"/>
            <a:ext cx="1020951" cy="10987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4E4619-DE7A-784B-7E0E-791BEE9C4179}"/>
              </a:ext>
            </a:extLst>
          </p:cNvPr>
          <p:cNvSpPr txBox="1"/>
          <p:nvPr/>
        </p:nvSpPr>
        <p:spPr>
          <a:xfrm>
            <a:off x="1486518" y="1709140"/>
            <a:ext cx="181928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o-LA" sz="800" b="1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ແຫ້ງໄດ້ທົນເຖິງ 12 ຊົ່ວໂມງ ແລະ ມີຊັ້ນຊັບນ້ຳແຫ້ງເພີ່ມ</a:t>
            </a:r>
            <a:endParaRPr lang="en-US" sz="800" b="1">
              <a:latin typeface="Phetsarath OT" panose="02000500000000000001" pitchFamily="2" charset="2"/>
              <a:ea typeface="Phetsarath OT" panose="02000500000000000001" pitchFamily="2" charset="2"/>
              <a:cs typeface="Phetsarath OT" panose="02000500000000000001" pitchFamily="2" charset="2"/>
            </a:endParaRPr>
          </a:p>
          <a:p>
            <a:r>
              <a:rPr lang="en-US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Molfix </a:t>
            </a:r>
            <a:r>
              <a:rPr lang="lo-LA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ມີຊັ້ນຊັບນ້ຳແຫ້ງເພີ່ມເພື່ອຊ່ວຍໃຫ້ຜິວລູກນ້ອຍແຫ້ງ ແລະ ຮູ້ສຶກສະບາຍ. ດ້ວຍຄວາມສາມາດໃນການຊັບນ້ຳສູງ ແລະການລ໋ອກນ້ຳໄດ້ດີ ເຮັດໃຫ້ຜ້າອ້ອມເໝາະສໍາລັບການໃຊ້ທັງກາງເວັນ ແລະ ກາງຄືນ.</a:t>
            </a:r>
            <a:endParaRPr lang="en-US" sz="800">
              <a:latin typeface="Phetsarath OT" panose="02000500000000000001" pitchFamily="2" charset="2"/>
              <a:ea typeface="Phetsarath OT" panose="02000500000000000001" pitchFamily="2" charset="2"/>
              <a:cs typeface="Phetsarath OT" panose="02000500000000000001" pitchFamily="2" charset="2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72BB8BA-3457-24DE-38C7-C4715D4D17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5805" y="533885"/>
            <a:ext cx="768314" cy="102281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CA81D18-D5CA-6C2B-87F2-0392731911CD}"/>
              </a:ext>
            </a:extLst>
          </p:cNvPr>
          <p:cNvSpPr txBox="1"/>
          <p:nvPr/>
        </p:nvSpPr>
        <p:spPr>
          <a:xfrm>
            <a:off x="4336027" y="579326"/>
            <a:ext cx="136498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o-LA" sz="800" b="1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ຖືກຂ້າເຊື້ອດ້ວຍແສງ </a:t>
            </a:r>
            <a:r>
              <a:rPr lang="en-US" sz="800" b="1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UV-C</a:t>
            </a:r>
            <a:endParaRPr lang="en-US" sz="800">
              <a:latin typeface="Phetsarath OT" panose="02000500000000000001" pitchFamily="2" charset="2"/>
              <a:ea typeface="Phetsarath OT" panose="02000500000000000001" pitchFamily="2" charset="2"/>
              <a:cs typeface="Phetsarath OT" panose="02000500000000000001" pitchFamily="2" charset="2"/>
            </a:endParaRPr>
          </a:p>
          <a:p>
            <a:r>
              <a:rPr lang="lo-LA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ຜ້າອ້ອມ </a:t>
            </a:r>
            <a:r>
              <a:rPr lang="en-US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Molfix </a:t>
            </a:r>
            <a:r>
              <a:rPr lang="lo-LA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ໄດ້ຖືກຂ້າເຊື້ອໂດຍແສງ </a:t>
            </a:r>
            <a:r>
              <a:rPr lang="en-US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Ultraviolet-C </a:t>
            </a:r>
            <a:r>
              <a:rPr lang="lo-LA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ເພື່ອຮັບປະກັນຄວາມປອດໄພໃຫ້ກັບລູກນ້ອຍຂອງທ່ານ.</a:t>
            </a:r>
            <a:endParaRPr lang="en-US" sz="800">
              <a:latin typeface="Phetsarath OT" panose="02000500000000000001" pitchFamily="2" charset="2"/>
              <a:ea typeface="Phetsarath OT" panose="02000500000000000001" pitchFamily="2" charset="2"/>
              <a:cs typeface="Phetsarath OT" panose="02000500000000000001" pitchFamily="2" charset="2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393E6A6-2143-A05C-550C-B8BAC1008E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6999" y="1679608"/>
            <a:ext cx="1020951" cy="101271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87080F7-AF23-FB54-40F9-6D9C9E76B1D3}"/>
              </a:ext>
            </a:extLst>
          </p:cNvPr>
          <p:cNvSpPr txBox="1"/>
          <p:nvPr/>
        </p:nvSpPr>
        <p:spPr>
          <a:xfrm>
            <a:off x="4336027" y="1680069"/>
            <a:ext cx="14049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o-LA" sz="800" b="1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ຜິວສຳຜັດນຸ່ມພິເສດ</a:t>
            </a:r>
            <a:endParaRPr lang="en-US" sz="800" b="1">
              <a:latin typeface="Phetsarath OT" panose="02000500000000000001" pitchFamily="2" charset="2"/>
              <a:ea typeface="Phetsarath OT" panose="02000500000000000001" pitchFamily="2" charset="2"/>
              <a:cs typeface="Phetsarath OT" panose="02000500000000000001" pitchFamily="2" charset="2"/>
            </a:endParaRPr>
          </a:p>
          <a:p>
            <a:r>
              <a:rPr lang="lo-LA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ພື້ນຜິວຂອງ </a:t>
            </a:r>
            <a:r>
              <a:rPr lang="en-US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Molfix </a:t>
            </a:r>
            <a:r>
              <a:rPr lang="lo-LA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ມີຄວາມນຸ່ມຫຼາຍ ແລະອ່ອນໂຍນຕໍ່ຜິວຂອງລູກນ້ອຍ. ນອກຈາກນັ້ນ ຊ່ອງລົມຂອງພື້ນຜິວຍັງຊ່ວຍໃຫ້ຜິວລູກໄດ້ຫາຍໃຈ ແລະເຮັດໃຫ້ແຫ້ງໄວ.</a:t>
            </a:r>
            <a:endParaRPr lang="en-US" sz="800" b="1">
              <a:latin typeface="Phetsarath OT" panose="02000500000000000001" pitchFamily="2" charset="2"/>
              <a:ea typeface="Phetsarath OT" panose="02000500000000000001" pitchFamily="2" charset="2"/>
              <a:cs typeface="Phetsarath OT" panose="02000500000000000001" pitchFamily="2" charset="2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130C479-9D68-F562-58A3-C41E361719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6999" y="3001437"/>
            <a:ext cx="1005927" cy="96772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B2111A7-196F-3F69-3CAA-6DA49A786BF0}"/>
              </a:ext>
            </a:extLst>
          </p:cNvPr>
          <p:cNvSpPr txBox="1"/>
          <p:nvPr/>
        </p:nvSpPr>
        <p:spPr>
          <a:xfrm>
            <a:off x="4336027" y="2940870"/>
            <a:ext cx="125454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o-LA" sz="800" b="1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ເອວຍືດຫົດໄດ້</a:t>
            </a:r>
            <a:endParaRPr lang="en-US" sz="800" b="1">
              <a:latin typeface="Phetsarath OT" panose="02000500000000000001" pitchFamily="2" charset="2"/>
              <a:ea typeface="Phetsarath OT" panose="02000500000000000001" pitchFamily="2" charset="2"/>
              <a:cs typeface="Phetsarath OT" panose="02000500000000000001" pitchFamily="2" charset="2"/>
            </a:endParaRPr>
          </a:p>
          <a:p>
            <a:r>
              <a:rPr lang="lo-LA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ເອວຂອງ </a:t>
            </a:r>
            <a:r>
              <a:rPr lang="en-US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Molfix </a:t>
            </a:r>
            <a:r>
              <a:rPr lang="lo-LA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ມີຄວາມຍືດຫົດໄດ້ດີ ສາມາດປັບໃຫ້ເຂົ້າກັບຮ່າງກາຍຂອງລູກນ້ອຍໄດ້ຢ່າງພໍດີ. ລູກນ້ອຍຈະຮູ້ສຶກສະບາຍທັງໃນເວລາຫຼິ້ນ ຫຼື ຫຼັງຈາກກິນເຂົ້າ.</a:t>
            </a:r>
            <a:endParaRPr lang="en-US" sz="800">
              <a:latin typeface="Phetsarath OT" panose="02000500000000000001" pitchFamily="2" charset="2"/>
              <a:ea typeface="Phetsarath OT" panose="02000500000000000001" pitchFamily="2" charset="2"/>
              <a:cs typeface="Phetsarath OT" panose="02000500000000000001" pitchFamily="2" charset="2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BBB220D-2C61-6743-F83A-068CD80F17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87000" y="4119286"/>
            <a:ext cx="947594" cy="991262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23985084-A8CF-5AFE-C68F-2261CDD36064}"/>
              </a:ext>
            </a:extLst>
          </p:cNvPr>
          <p:cNvSpPr txBox="1"/>
          <p:nvPr/>
        </p:nvSpPr>
        <p:spPr>
          <a:xfrm>
            <a:off x="4336026" y="4287834"/>
            <a:ext cx="12900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o-LA" sz="800" b="1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ໃຊ້ແລະຖີ້ມ</a:t>
            </a:r>
            <a:endParaRPr lang="en-US" sz="800" b="1">
              <a:latin typeface="Phetsarath OT" panose="02000500000000000001" pitchFamily="2" charset="2"/>
              <a:ea typeface="Phetsarath OT" panose="02000500000000000001" pitchFamily="2" charset="2"/>
              <a:cs typeface="Phetsarath OT" panose="02000500000000000001" pitchFamily="2" charset="2"/>
            </a:endParaRPr>
          </a:p>
          <a:p>
            <a:r>
              <a:rPr lang="lo-LA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ສະດວກ ແລະ ງ່າຍຕໍ່ການຖີ້ມ ດ້ວຍແຖບກາວສໍາລັບຫໍ່ຖີ້ມ.</a:t>
            </a:r>
            <a:endParaRPr lang="en-US" sz="800" b="1">
              <a:latin typeface="Phetsarath OT" panose="02000500000000000001" pitchFamily="2" charset="2"/>
              <a:ea typeface="Phetsarath OT" panose="02000500000000000001" pitchFamily="2" charset="2"/>
              <a:cs typeface="Phetsarath OT" panose="02000500000000000001" pitchFamily="2" charset="2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F5011D0-0116-D71C-BB55-5A875BFE016A}"/>
              </a:ext>
            </a:extLst>
          </p:cNvPr>
          <p:cNvSpPr txBox="1"/>
          <p:nvPr/>
        </p:nvSpPr>
        <p:spPr>
          <a:xfrm>
            <a:off x="1526311" y="5266011"/>
            <a:ext cx="28097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o-LA" sz="800" b="1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ບໍ່ກໍ່ໃຫ້ແພ້  – ຜ່ານການທົດສອບທາງຜິວ</a:t>
            </a:r>
            <a:endParaRPr lang="en-US" sz="800" b="1">
              <a:latin typeface="Phetsarath OT" panose="02000500000000000001" pitchFamily="2" charset="2"/>
              <a:ea typeface="Phetsarath OT" panose="02000500000000000001" pitchFamily="2" charset="2"/>
              <a:cs typeface="Phetsarath OT" panose="02000500000000000001" pitchFamily="2" charset="2"/>
            </a:endParaRPr>
          </a:p>
          <a:p>
            <a:r>
              <a:rPr lang="en-US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Molfix </a:t>
            </a:r>
            <a:r>
              <a:rPr lang="lo-LA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ເປັນຜ້າອ້ອມທີ່ບໍ່ກໍ່ໃຫ້ແພ້ ແລະ ໄດ້ຮັບການທົດສອບທາງຜິວແລ້ວ ເພື່ອຮັບປະກັນຄວາມປອດໄພໃຫ້ລູກນ້ອຍ.</a:t>
            </a:r>
            <a:endParaRPr lang="en-US" sz="800" b="1">
              <a:latin typeface="Phetsarath OT" panose="02000500000000000001" pitchFamily="2" charset="2"/>
              <a:ea typeface="Phetsarath OT" panose="02000500000000000001" pitchFamily="2" charset="2"/>
              <a:cs typeface="Phetsarath OT" panose="02000500000000000001" pitchFamily="2" charset="2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F77978F2-5162-F891-D5EA-B76AB7A945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1676" y="5237136"/>
            <a:ext cx="1020951" cy="98298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44EA0DD2-85E6-6A1C-7CAB-5533BA35DFC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1676" y="4119286"/>
            <a:ext cx="891617" cy="883997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DCF0F496-CBB3-4C14-F88C-43A6E11332F1}"/>
              </a:ext>
            </a:extLst>
          </p:cNvPr>
          <p:cNvSpPr txBox="1"/>
          <p:nvPr/>
        </p:nvSpPr>
        <p:spPr>
          <a:xfrm>
            <a:off x="1502627" y="4148243"/>
            <a:ext cx="13321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o-LA" sz="800" b="1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ຕົວຊີ້ບອກຄວາມຊຸ່ມ</a:t>
            </a:r>
            <a:endParaRPr lang="en-US" sz="800" b="1">
              <a:latin typeface="Phetsarath OT" panose="02000500000000000001" pitchFamily="2" charset="2"/>
              <a:ea typeface="Phetsarath OT" panose="02000500000000000001" pitchFamily="2" charset="2"/>
              <a:cs typeface="Phetsarath OT" panose="02000500000000000001" pitchFamily="2" charset="2"/>
            </a:endParaRPr>
          </a:p>
          <a:p>
            <a:r>
              <a:rPr lang="lo-LA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ຕົວຊີ້ບອກຄວາມຊຸ່ມຂອງພວກເຮົາ ໃຫ້ທ່ານຮູ້ງ່າຍກວ່າ ເມື່ອໃດຄວນປ່ຽນຜ້າອ້ອມໃຫ້ລູກ ໂດຍການປ່ຽນສີ.</a:t>
            </a:r>
            <a:endParaRPr lang="en-US" sz="800" b="1">
              <a:latin typeface="Phetsarath OT" panose="02000500000000000001" pitchFamily="2" charset="2"/>
              <a:ea typeface="Phetsarath OT" panose="02000500000000000001" pitchFamily="2" charset="2"/>
              <a:cs typeface="Phetsarath OT" panose="02000500000000000001" pitchFamily="2" charset="2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4BE8840E-5789-11E6-0614-E89F46DCCDC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4840" y="3001436"/>
            <a:ext cx="1005927" cy="883997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6BA12963-7A7E-6F42-D32A-1610E6C95B3A}"/>
              </a:ext>
            </a:extLst>
          </p:cNvPr>
          <p:cNvSpPr txBox="1"/>
          <p:nvPr/>
        </p:nvSpPr>
        <p:spPr>
          <a:xfrm>
            <a:off x="1478280" y="3009701"/>
            <a:ext cx="170120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o-LA" sz="800" b="1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ຂອບເອວນຸ່ມແບບພອງຟູ</a:t>
            </a:r>
            <a:endParaRPr lang="en-US" sz="800" b="1">
              <a:latin typeface="Phetsarath OT" panose="02000500000000000001" pitchFamily="2" charset="2"/>
              <a:ea typeface="Phetsarath OT" panose="02000500000000000001" pitchFamily="2" charset="2"/>
              <a:cs typeface="Phetsarath OT" panose="02000500000000000001" pitchFamily="2" charset="2"/>
            </a:endParaRPr>
          </a:p>
          <a:p>
            <a:r>
              <a:rPr lang="en-US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Molfix </a:t>
            </a:r>
            <a:r>
              <a:rPr lang="lo-LA" sz="8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ມີເທັກໂນໂລຊີຂອບເອວພອງຟູ ໃຫ້ຄວາມສະບາຍກັບເອວຂອງລູກນ້ອຍ. ຂອບນຸ້ມສຸດໆ ສຳຜັດຜິວລູກໄດ້ຢ່າງອ່ອນໂຍນ ເພື່ອຮັບປະກັນຄວາມສະບາຍ.</a:t>
            </a:r>
            <a:endParaRPr lang="en-US" sz="800" b="1">
              <a:latin typeface="Phetsarath OT" panose="02000500000000000001" pitchFamily="2" charset="2"/>
              <a:ea typeface="Phetsarath OT" panose="02000500000000000001" pitchFamily="2" charset="2"/>
              <a:cs typeface="Phetsarath OT" panose="02000500000000000001" pitchFamily="2" charset="2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46C069B-B32B-0DEA-E008-ACF4F1366177}"/>
              </a:ext>
            </a:extLst>
          </p:cNvPr>
          <p:cNvSpPr txBox="1"/>
          <p:nvPr/>
        </p:nvSpPr>
        <p:spPr>
          <a:xfrm>
            <a:off x="5933618" y="263785"/>
            <a:ext cx="2688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o-LA" b="1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ວິທີໃຊ້ງານ</a:t>
            </a:r>
            <a:r>
              <a:rPr lang="en-US" b="1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: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21B7D4C-B0D2-045C-ED52-D70BD91BAA8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35475" y="633117"/>
            <a:ext cx="3528366" cy="1585097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30566CC1-FFE7-3C15-35A5-F7C6BCD3A99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35476" y="2402508"/>
            <a:ext cx="3528366" cy="962694"/>
          </a:xfrm>
          <a:prstGeom prst="rect">
            <a:avLst/>
          </a:prstGeom>
        </p:spPr>
      </p:pic>
      <p:pic>
        <p:nvPicPr>
          <p:cNvPr id="1026" name="Picture 2" descr="Trang chủ | Molfix Vietnam">
            <a:extLst>
              <a:ext uri="{FF2B5EF4-FFF2-40B4-BE49-F238E27FC236}">
                <a16:creationId xmlns:a16="http://schemas.microsoft.com/office/drawing/2014/main" id="{289CC54C-985E-E3E0-E294-46A6707719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0023" y="146176"/>
            <a:ext cx="1540816" cy="1264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4421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Molped">
            <a:extLst>
              <a:ext uri="{FF2B5EF4-FFF2-40B4-BE49-F238E27FC236}">
                <a16:creationId xmlns:a16="http://schemas.microsoft.com/office/drawing/2014/main" id="{45FF5CEA-611A-0F1B-C692-3C6FDC87D8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4623" y="149543"/>
            <a:ext cx="1590675" cy="981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E083DC-3309-8FEB-EF04-8C97ED6EB165}"/>
              </a:ext>
            </a:extLst>
          </p:cNvPr>
          <p:cNvSpPr txBox="1"/>
          <p:nvPr/>
        </p:nvSpPr>
        <p:spPr>
          <a:xfrm>
            <a:off x="286701" y="270748"/>
            <a:ext cx="5037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Molped Natural Soft and Dry Slim Wings 23 cm.</a:t>
            </a:r>
            <a:endParaRPr lang="en-US" sz="2400" b="1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1817EA-C1B1-A5F5-D14B-DA553104A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700" y="1132081"/>
            <a:ext cx="4233067" cy="400553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DF44C7A-C9E6-DB49-AB12-76FAE3D73B1B}"/>
              </a:ext>
            </a:extLst>
          </p:cNvPr>
          <p:cNvSpPr txBox="1"/>
          <p:nvPr/>
        </p:nvSpPr>
        <p:spPr>
          <a:xfrm>
            <a:off x="4624234" y="1130618"/>
            <a:ext cx="686833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o-LA" sz="1400" b="1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ສ່ວນປະກອບ</a:t>
            </a:r>
            <a:r>
              <a:rPr lang="lo-LA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:</a:t>
            </a:r>
            <a:br>
              <a:rPr lang="lo-LA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</a:br>
            <a:r>
              <a:rPr lang="lo-LA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ຊັ້ນຜິວ </a:t>
            </a:r>
            <a:r>
              <a:rPr lang="en-US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Nonwoven, </a:t>
            </a:r>
            <a:r>
              <a:rPr lang="lo-LA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ຊັ້ນລຸ່ມ </a:t>
            </a:r>
            <a:r>
              <a:rPr lang="en-US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polyethylene, </a:t>
            </a:r>
            <a:r>
              <a:rPr lang="lo-LA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ຊັ້ນຊັບນ້ຳ </a:t>
            </a:r>
            <a:r>
              <a:rPr lang="en-US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nonwoven, cellulose, </a:t>
            </a:r>
            <a:r>
              <a:rPr lang="lo-LA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ໂພລິເມີຊັບນ້ຳສູງ (</a:t>
            </a:r>
            <a:r>
              <a:rPr lang="en-US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superabsorbent polymer), </a:t>
            </a:r>
            <a:r>
              <a:rPr lang="lo-LA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ຊັ້ນຫໍ່ </a:t>
            </a:r>
            <a:r>
              <a:rPr lang="en-US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polyethylene, </a:t>
            </a:r>
            <a:r>
              <a:rPr lang="lo-LA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 ເຈ້ຍ </a:t>
            </a:r>
            <a:r>
              <a:rPr lang="en-US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release, </a:t>
            </a:r>
            <a:r>
              <a:rPr lang="lo-LA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ການຕິດແປະ</a:t>
            </a:r>
          </a:p>
          <a:p>
            <a:r>
              <a:rPr lang="en-US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+ </a:t>
            </a:r>
            <a:r>
              <a:rPr lang="lo-LA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ຜິວສໍາຜັດຜະລິດຈາກຝ້າຍອໍແກນິກ</a:t>
            </a:r>
            <a:br>
              <a:rPr lang="lo-LA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</a:br>
            <a:r>
              <a:rPr lang="lo-LA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+</a:t>
            </a:r>
            <a:r>
              <a:rPr lang="en-US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 </a:t>
            </a:r>
            <a:r>
              <a:rPr lang="lo-LA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ຜ່ານການທົດສອບໂດຍ </a:t>
            </a:r>
            <a:r>
              <a:rPr lang="en-US" sz="1400" err="1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Itatest</a:t>
            </a:r>
            <a:r>
              <a:rPr lang="en-US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 </a:t>
            </a:r>
            <a:r>
              <a:rPr lang="lo-LA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ປະເທດໂປແລນ</a:t>
            </a:r>
          </a:p>
          <a:p>
            <a:r>
              <a:rPr lang="en-US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+ </a:t>
            </a:r>
            <a:r>
              <a:rPr lang="lo-LA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ຕາມຜົນການທົດສອບໃນຫ້ອງປະຕິບັດການຂອງບໍລິສັດ </a:t>
            </a:r>
            <a:r>
              <a:rPr lang="en-US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Hayat Kimya Sanayi A.S. </a:t>
            </a:r>
            <a:r>
              <a:rPr lang="lo-LA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ປະເທດຕຸຣະກີ ໂດຍອີງຕາມປະລິມານເລືອດປະຈໍາເດືອນສະເຉລ່ຍໃນການໃຊ້ຜ້າອະນາໄມ 4 ຊົ່ວໂມງ.</a:t>
            </a:r>
            <a:br>
              <a:rPr lang="lo-LA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</a:br>
            <a:r>
              <a:rPr lang="lo-LA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ຜົນການໃຊ້ງານຈິງຂຶ້ນຢູ່ກັບແຕ່ລະຄົນ ແລະ ຄວນປ່ຽນຜ້າອະນາໄມໃຫ້ປະຈໍາເພື່ອສຸຂະພາບທີ່ດີ.</a:t>
            </a:r>
            <a:br>
              <a:rPr lang="lo-LA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</a:br>
            <a:r>
              <a:rPr lang="lo-LA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ຮູບພາບຜ້າອະນາໄມແມ່ນເພື່ອການຈໍາລອງເທົ່ານັ້ນ.</a:t>
            </a:r>
          </a:p>
          <a:p>
            <a:r>
              <a:rPr lang="lo-LA" sz="1400" b="1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ເລກທະບຽນຮັບຮອງ</a:t>
            </a:r>
            <a:r>
              <a:rPr lang="lo-LA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: 10-2-6500013235</a:t>
            </a:r>
            <a:br>
              <a:rPr lang="lo-LA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</a:br>
            <a:r>
              <a:rPr lang="lo-LA" sz="1400" b="1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ປະເພດເຄື່ອງສໍາອາງ</a:t>
            </a:r>
            <a:r>
              <a:rPr lang="lo-LA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: ຜ້າອະນາໄມ / ຈຸດຊ່ອນເຣັ້ນ / ບໍ່ຈໍາເປັນຕ້ອງລ້າງອອກ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111A26-4E16-BEE6-91F9-D4F044180912}"/>
              </a:ext>
            </a:extLst>
          </p:cNvPr>
          <p:cNvSpPr txBox="1"/>
          <p:nvPr/>
        </p:nvSpPr>
        <p:spPr>
          <a:xfrm>
            <a:off x="4624234" y="3606315"/>
            <a:ext cx="675911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o-LA" sz="1400" b="1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ຜະລິດໂດຍ</a:t>
            </a:r>
            <a:r>
              <a:rPr lang="lo-LA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 ບໍລິສັດ </a:t>
            </a:r>
            <a:r>
              <a:rPr lang="en-US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Hayat Kimya Vietnam </a:t>
            </a:r>
            <a:r>
              <a:rPr lang="lo-LA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ຈໍາກັດ, ປະເທດຫວຽດນາມ</a:t>
            </a:r>
            <a:br>
              <a:rPr lang="lo-LA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</a:br>
            <a:r>
              <a:rPr lang="lo-LA" sz="1400" b="1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ນໍາເຂົ້າໂດຍ</a:t>
            </a:r>
            <a:r>
              <a:rPr lang="lo-LA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 ບໍລິສັດ </a:t>
            </a:r>
            <a:r>
              <a:rPr lang="en-US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Hayat Hygienic Products (Thailand) </a:t>
            </a:r>
            <a:r>
              <a:rPr lang="lo-LA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ຈໍາກັດ</a:t>
            </a:r>
            <a:br>
              <a:rPr lang="lo-LA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</a:br>
            <a:r>
              <a:rPr lang="lo-LA" sz="1400" b="1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ທີ່ຢູ່</a:t>
            </a:r>
            <a:r>
              <a:rPr lang="lo-LA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: 179 ອາຄານ </a:t>
            </a:r>
            <a:r>
              <a:rPr lang="en-US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Bangkok City Tower, </a:t>
            </a:r>
            <a:r>
              <a:rPr lang="lo-LA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ຖະໜົນ </a:t>
            </a:r>
            <a:r>
              <a:rPr lang="en-US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Sathorn </a:t>
            </a:r>
            <a:r>
              <a:rPr lang="lo-LA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ໃຕ້, ແຂວງ </a:t>
            </a:r>
            <a:r>
              <a:rPr lang="en-US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Thung Maha </a:t>
            </a:r>
            <a:r>
              <a:rPr lang="en-US" sz="1400" err="1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Mek</a:t>
            </a:r>
            <a:r>
              <a:rPr lang="en-US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,</a:t>
            </a:r>
            <a:br>
              <a:rPr lang="en-US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</a:br>
            <a:r>
              <a:rPr lang="lo-LA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ເຂດ </a:t>
            </a:r>
            <a:r>
              <a:rPr lang="en-US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Sathorn, </a:t>
            </a:r>
            <a:r>
              <a:rPr lang="lo-LA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ກຸງເທບມະຫານະຄອນ 10120</a:t>
            </a:r>
            <a:endParaRPr lang="en-US" sz="4000">
              <a:latin typeface="Phetsarath OT" panose="02000500000000000001" pitchFamily="2" charset="2"/>
              <a:ea typeface="Phetsarath OT" panose="02000500000000000001" pitchFamily="2" charset="2"/>
              <a:cs typeface="Phetsarath OT" panose="02000500000000000001" pitchFamily="2" charset="2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4661C54-F491-36ED-16F1-F3218E7D04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700" y="5137613"/>
            <a:ext cx="4233067" cy="73064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32D9BBC-6EA3-4890-8C19-7A7D46A24A7D}"/>
              </a:ext>
            </a:extLst>
          </p:cNvPr>
          <p:cNvSpPr txBox="1"/>
          <p:nvPr/>
        </p:nvSpPr>
        <p:spPr>
          <a:xfrm>
            <a:off x="4624234" y="4622462"/>
            <a:ext cx="665546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o-LA" sz="1400" b="1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ວິທີການໃຊ້</a:t>
            </a:r>
            <a:r>
              <a:rPr lang="lo-LA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: ລອກແຖບກາວອອກຈາກຜ້າອະນາໄມ ແລ້ວແປະຜ້າອະນາໄມລົງໃສ່ກາງເກງຊັ້ນໃນ</a:t>
            </a:r>
            <a:br>
              <a:rPr lang="lo-LA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</a:br>
            <a:r>
              <a:rPr lang="lo-LA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ເມື່ອໃຊ້ແລ້ວ ຄວນຫໍ່ໃສ່ຖົງລຽນໃຫ້ເປັນລະບຽບຮຽບຮ້ອຍ ຫ້າມຖີ້ມລົງໃນຊັກໂຄກ</a:t>
            </a:r>
          </a:p>
          <a:p>
            <a:r>
              <a:rPr lang="lo-LA" sz="1400" b="1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ວັນຜະລິດ / ຈຳນວນການຜະລິດ</a:t>
            </a:r>
            <a:r>
              <a:rPr lang="lo-LA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: ກະລຸນາເບິ່ງທີ່ສະຫຼາກສິນຄ້າ</a:t>
            </a:r>
            <a:br>
              <a:rPr lang="lo-LA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</a:br>
            <a:r>
              <a:rPr lang="lo-LA" sz="1400" b="1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ວັນໝົດອາຍຸ</a:t>
            </a:r>
            <a:r>
              <a:rPr lang="lo-LA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: 3 ປີນັບຈາກວັນຜະລິດ</a:t>
            </a:r>
          </a:p>
          <a:p>
            <a:r>
              <a:rPr lang="lo-LA" sz="1400" b="1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ແນະນໍາ</a:t>
            </a:r>
            <a:r>
              <a:rPr lang="lo-LA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: ຄວນປ່ຽນຜ້າອະນາໄມ </a:t>
            </a:r>
            <a:r>
              <a:rPr lang="en-US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Molped </a:t>
            </a:r>
            <a:r>
              <a:rPr lang="lo-LA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ໃຫ້ປະຈໍາເພື່ອຄວາມສະອາດ ແລະ ສຸຂະພາບທີ່ດີ</a:t>
            </a:r>
          </a:p>
          <a:p>
            <a:r>
              <a:rPr lang="lo-LA" sz="1400" b="1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ວິທີການເກັບຮັກສາ</a:t>
            </a:r>
            <a:r>
              <a:rPr lang="lo-LA" sz="1400">
                <a:latin typeface="Phetsarath OT" panose="02000500000000000001" pitchFamily="2" charset="2"/>
                <a:ea typeface="Phetsarath OT" panose="02000500000000000001" pitchFamily="2" charset="2"/>
                <a:cs typeface="Phetsarath OT" panose="02000500000000000001" pitchFamily="2" charset="2"/>
              </a:rPr>
              <a:t>: ເກັບໄວ້ໃນສະຖານທີ່ແຫ້ງ ແລະ ເຢັນ</a:t>
            </a:r>
          </a:p>
        </p:txBody>
      </p:sp>
    </p:spTree>
    <p:extLst>
      <p:ext uri="{BB962C8B-B14F-4D97-AF65-F5344CB8AC3E}">
        <p14:creationId xmlns:p14="http://schemas.microsoft.com/office/powerpoint/2010/main" val="682967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859</Words>
  <Application>Microsoft Office PowerPoint</Application>
  <PresentationFormat>Widescreen</PresentationFormat>
  <Paragraphs>35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Phetsarath OT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Yen Le (MKT)</dc:creator>
  <cp:lastModifiedBy>pgm laos</cp:lastModifiedBy>
  <cp:revision>107</cp:revision>
  <dcterms:created xsi:type="dcterms:W3CDTF">2025-06-16T02:07:12Z</dcterms:created>
  <dcterms:modified xsi:type="dcterms:W3CDTF">2025-06-17T09:37:14Z</dcterms:modified>
</cp:coreProperties>
</file>